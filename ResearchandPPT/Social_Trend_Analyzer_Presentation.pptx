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046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Trend Analyzer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14356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17C"/>
                </a:solidFill>
              </a:rPr>
              <a:t>An NLP-based system to discover emerging topics, sentiment and hashtag trends from social-media 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1417320" cy="292608"/>
          </a:xfrm>
          <a:prstGeom prst="roundRect">
            <a:avLst>
              <a:gd name="adj" fmla="val 43750"/>
            </a:avLst>
          </a:prstGeom>
          <a:solidFill>
            <a:srgbClr val="2E5EAA">
              <a:alpha val="94000"/>
            </a:srgbClr>
          </a:solidFill>
          <a:ln w="12700">
            <a:solidFill>
              <a:srgbClr val="2E5EAA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3512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NLP Mini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2057400"/>
            <a:ext cx="1463040" cy="292608"/>
          </a:xfrm>
          <a:prstGeom prst="roundRect">
            <a:avLst>
              <a:gd name="adj" fmla="val 43750"/>
            </a:avLst>
          </a:prstGeom>
          <a:solidFill>
            <a:srgbClr val="2E9EB4">
              <a:alpha val="94000"/>
            </a:srgbClr>
          </a:solidFill>
          <a:ln w="12700">
            <a:solidFill>
              <a:srgbClr val="2E9EB4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21351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Topic Modeling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77640" y="2057400"/>
            <a:ext cx="1508760" cy="292608"/>
          </a:xfrm>
          <a:prstGeom prst="roundRect">
            <a:avLst>
              <a:gd name="adj" fmla="val 43750"/>
            </a:avLst>
          </a:prstGeom>
          <a:solidFill>
            <a:srgbClr val="4F8A62">
              <a:alpha val="94000"/>
            </a:srgbClr>
          </a:solidFill>
          <a:ln w="12700">
            <a:solidFill>
              <a:srgbClr val="4F8A6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2135124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Trend Detection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87952"/>
            <a:ext cx="1234440" cy="137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Posts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4288" y="4160520"/>
            <a:ext cx="256032" cy="292608"/>
          </a:xfrm>
          <a:prstGeom prst="chevron">
            <a:avLst/>
          </a:prstGeom>
          <a:solidFill>
            <a:srgbClr val="2E5EAA">
              <a:alpha val="9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39776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4187952"/>
            <a:ext cx="1234440" cy="137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Preprocess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78808" y="4160520"/>
            <a:ext cx="256032" cy="292608"/>
          </a:xfrm>
          <a:prstGeom prst="chevron">
            <a:avLst/>
          </a:prstGeom>
          <a:solidFill>
            <a:srgbClr val="2E5EAA">
              <a:alpha val="9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9776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187952"/>
            <a:ext cx="1234440" cy="137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NLP Models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4160520"/>
            <a:ext cx="256032" cy="292608"/>
          </a:xfrm>
          <a:prstGeom prst="chevron">
            <a:avLst/>
          </a:prstGeom>
          <a:solidFill>
            <a:srgbClr val="2E5EAA">
              <a:alpha val="9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776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187952"/>
            <a:ext cx="1234440" cy="137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Trend 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27848" y="4160520"/>
            <a:ext cx="256032" cy="292608"/>
          </a:xfrm>
          <a:prstGeom prst="chevron">
            <a:avLst/>
          </a:prstGeom>
          <a:solidFill>
            <a:srgbClr val="2E5EAA">
              <a:alpha val="9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39776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187952"/>
            <a:ext cx="1234440" cy="137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1965960"/>
            <a:ext cx="30175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6"/>
                </a:solidFill>
              </a:rPr>
              <a:t>Detect what is rising, not only what is frequent.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7C"/>
                </a:solidFill>
              </a:rPr>
              <a:t>Understanding fast-moving public conversations using Natural Language Processing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800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343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Social-media text is short, noisy and time-sensitive. People express opinions using hashtags, slang, mentions, emojis and rapidly changing phrases.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3434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A36"/>
                </a:solidFill>
              </a:rPr>
              <a:t>The project converts this unstructured text into structured insights: sentiment, topics, keywords, entities and trend movement.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3434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5EAA"/>
                </a:solidFill>
              </a:rPr>
              <a:t>Core idea: combine semantic NLP with temporal comparison so the system can explain why a topic is emerging.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9EB4"/>
                </a:solidFill>
              </a:rPr>
              <a:t>ANALYSIS LAYERS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41605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737360"/>
            <a:ext cx="91440" cy="521208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892808"/>
            <a:ext cx="9144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Sentiment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73568" y="1901952"/>
            <a:ext cx="2331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17C"/>
                </a:solidFill>
              </a:rPr>
              <a:t>positive • neutral • negative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41605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487168"/>
            <a:ext cx="91440" cy="521208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642616"/>
            <a:ext cx="9144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Topics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73568" y="2651760"/>
            <a:ext cx="2331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17C"/>
                </a:solidFill>
              </a:rPr>
              <a:t>semantic clusters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236976"/>
            <a:ext cx="41605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236976"/>
            <a:ext cx="91440" cy="521208"/>
          </a:xfrm>
          <a:prstGeom prst="rect">
            <a:avLst/>
          </a:prstGeom>
          <a:solidFill>
            <a:srgbClr val="C6852F"/>
          </a:solidFill>
          <a:ln w="12700">
            <a:solidFill>
              <a:srgbClr val="C685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392424"/>
            <a:ext cx="9144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Entities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73568" y="3401568"/>
            <a:ext cx="2331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17C"/>
                </a:solidFill>
              </a:rPr>
              <a:t>people • org • 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986784"/>
            <a:ext cx="41605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986784"/>
            <a:ext cx="91440" cy="521208"/>
          </a:xfrm>
          <a:prstGeom prst="rect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142232"/>
            <a:ext cx="9144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Trend 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73568" y="4151376"/>
            <a:ext cx="2331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17C"/>
                </a:solidFill>
              </a:rPr>
              <a:t>growth • recency • velocity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 of the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7C"/>
                </a:solidFill>
              </a:rPr>
              <a:t>Why social trend analysis is useful and relevant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5EAA"/>
                </a:solidFill>
              </a:rPr>
              <a:t>6B+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184708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C"/>
                </a:solidFill>
              </a:rPr>
              <a:t>global internet users reported in 2025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3619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9EB4"/>
                </a:solidFill>
              </a:rPr>
              <a:t>~500M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264408" y="184708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C"/>
                </a:solidFill>
              </a:rPr>
              <a:t>unique social-media users in India reported by Reuters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806440" y="141732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53619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8A62"/>
                </a:solidFill>
              </a:rPr>
              <a:t>3.2 hrs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16168" y="184708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C"/>
                </a:solidFill>
              </a:rPr>
              <a:t>average daily social-media app time in India reported by Reuters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85800" y="25146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</a:rPr>
              <a:t>Main need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200400"/>
            <a:ext cx="109728" cy="109728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13639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Manual monitoring cannot keep up with large, fast-moving conversations.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767328"/>
            <a:ext cx="109728" cy="109728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70332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Frequency alone can miss emerging topics that are small but growing quickly.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334256"/>
            <a:ext cx="109728" cy="109728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27024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</a:rPr>
              <a:t>Brands, researchers and students need explainable insights, not only word counts.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514600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FDFBF4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A36"/>
                </a:solidFill>
              </a:rPr>
              <a:t>Project impact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56832" y="3154680"/>
            <a:ext cx="3017520" cy="292608"/>
          </a:xfrm>
          <a:prstGeom prst="roundRect">
            <a:avLst>
              <a:gd name="adj" fmla="val 43750"/>
            </a:avLst>
          </a:prstGeom>
          <a:solidFill>
            <a:srgbClr val="2E5EAA">
              <a:alpha val="94000"/>
            </a:srgbClr>
          </a:solidFill>
          <a:ln w="12700">
            <a:solidFill>
              <a:srgbClr val="2E5EAA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323240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Detect emerging issues early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56832" y="3630168"/>
            <a:ext cx="3017520" cy="292608"/>
          </a:xfrm>
          <a:prstGeom prst="roundRect">
            <a:avLst>
              <a:gd name="adj" fmla="val 43750"/>
            </a:avLst>
          </a:prstGeom>
          <a:solidFill>
            <a:srgbClr val="2E9EB4">
              <a:alpha val="94000"/>
            </a:srgbClr>
          </a:solidFill>
          <a:ln w="12700">
            <a:solidFill>
              <a:srgbClr val="2E9EB4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3707892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Understand public sentiment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56832" y="4105656"/>
            <a:ext cx="3017520" cy="292608"/>
          </a:xfrm>
          <a:prstGeom prst="roundRect">
            <a:avLst>
              <a:gd name="adj" fmla="val 43750"/>
            </a:avLst>
          </a:prstGeom>
          <a:solidFill>
            <a:srgbClr val="2E5EAA">
              <a:alpha val="94000"/>
            </a:srgbClr>
          </a:solidFill>
          <a:ln w="12700">
            <a:solidFill>
              <a:srgbClr val="2E5EAA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4183380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Compare platforms and time periods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56832" y="4581144"/>
            <a:ext cx="3017520" cy="292608"/>
          </a:xfrm>
          <a:prstGeom prst="roundRect">
            <a:avLst>
              <a:gd name="adj" fmla="val 43750"/>
            </a:avLst>
          </a:prstGeom>
          <a:solidFill>
            <a:srgbClr val="2E9EB4">
              <a:alpha val="94000"/>
            </a:srgbClr>
          </a:solidFill>
          <a:ln w="12700">
            <a:solidFill>
              <a:srgbClr val="2E9EB4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4658868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Support decision-making with evidence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" y="60533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Data sources: ITU / Reuters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7C"/>
                </a:solidFill>
              </a:rPr>
              <a:t>End-to-end NLP pipeline for the Social Trend Analyzer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CSV/JSON posts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057400" y="1719072"/>
            <a:ext cx="228600" cy="292608"/>
          </a:xfrm>
          <a:prstGeom prst="chevron">
            <a:avLst/>
          </a:prstGeom>
          <a:solidFill>
            <a:srgbClr val="2E5EAA">
              <a:alpha val="8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Cleaning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URLs, slang, hashtags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931920" y="1719072"/>
            <a:ext cx="228600" cy="292608"/>
          </a:xfrm>
          <a:prstGeom prst="chevron">
            <a:avLst/>
          </a:prstGeom>
          <a:solidFill>
            <a:srgbClr val="2E5EAA">
              <a:alpha val="8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Sentiment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polarity + confidence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806440" y="1719072"/>
            <a:ext cx="228600" cy="292608"/>
          </a:xfrm>
          <a:prstGeom prst="chevron">
            <a:avLst/>
          </a:prstGeom>
          <a:solidFill>
            <a:srgbClr val="2E5EAA">
              <a:alpha val="8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EAF2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Topics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embeddings + BERTopic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680960" y="1719072"/>
            <a:ext cx="228600" cy="292608"/>
          </a:xfrm>
          <a:prstGeom prst="chevron">
            <a:avLst/>
          </a:prstGeom>
          <a:solidFill>
            <a:srgbClr val="2E5EAA">
              <a:alpha val="8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Signals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hashtags, NER, engagement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555480" y="1719072"/>
            <a:ext cx="228600" cy="292608"/>
          </a:xfrm>
          <a:prstGeom prst="chevron">
            <a:avLst/>
          </a:prstGeom>
          <a:solidFill>
            <a:srgbClr val="2E5EAA">
              <a:alpha val="80000"/>
            </a:srgbClr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508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17190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A36"/>
                </a:solidFill>
              </a:rPr>
              <a:t>Trends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12680" y="1947672"/>
            <a:ext cx="12344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8717C"/>
                </a:solidFill>
              </a:rPr>
              <a:t>score + explanation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777240" y="2816352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5EAA"/>
                </a:solidFill>
              </a:rPr>
              <a:t>Trend Score Formula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3456432"/>
            <a:ext cx="4434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A36"/>
                </a:solidFill>
              </a:rPr>
              <a:t>Score = volume growth + engagement growth + velocity + recency + burstiness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7552" y="4315968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8717C"/>
                </a:solidFill>
              </a:rPr>
              <a:t>This prevents old popular topics from dominating the dashboard and highlights topics that are currently rising.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816352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054096"/>
            <a:ext cx="22860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F8A62"/>
                </a:solidFill>
              </a:rPr>
              <a:t>Dashboard Output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10528" y="3520440"/>
            <a:ext cx="137160" cy="137160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456432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</a:rPr>
              <a:t>Trending topic rank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10528" y="3849624"/>
            <a:ext cx="137160" cy="137160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785616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</a:rPr>
              <a:t>Volume timeline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10528" y="4178808"/>
            <a:ext cx="137160" cy="137160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4114800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</a:rPr>
              <a:t>Sentiment split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4507992"/>
            <a:ext cx="137160" cy="137160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443984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</a:rPr>
              <a:t>Representative posts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10528" y="4837176"/>
            <a:ext cx="137160" cy="137160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773168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</a:rPr>
              <a:t>Reason/explanation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7C"/>
                </a:solidFill>
              </a:rPr>
              <a:t>Relevant research and tools supporting the project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109728" cy="80467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45336"/>
            <a:ext cx="22860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BERTrend,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4480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8717C"/>
                </a:solidFill>
              </a:rPr>
              <a:t>Uses BERTopic-style neural topic modeling to detect emerging trends and weak signals in evolving text corpora.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60320"/>
            <a:ext cx="109728" cy="804672"/>
          </a:xfrm>
          <a:prstGeom prst="rect">
            <a:avLst/>
          </a:prstGeom>
          <a:solidFill>
            <a:srgbClr val="2E9EB4"/>
          </a:solidFill>
          <a:ln w="12700">
            <a:solidFill>
              <a:srgbClr val="2E9E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88336"/>
            <a:ext cx="22860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NLP sentiment review,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44368"/>
            <a:ext cx="4480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8717C"/>
                </a:solidFill>
              </a:rPr>
              <a:t>Reviews sentiment analysis methods including ML, deep learning, LLMs and pretrained models.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03320"/>
            <a:ext cx="109728" cy="804672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31336"/>
            <a:ext cx="22860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Sentiment trends review, 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087368"/>
            <a:ext cx="4480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8717C"/>
                </a:solidFill>
              </a:rPr>
              <a:t>Shows movement from lexicon/ML approaches toward AI and deep learning methods.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4434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783080"/>
            <a:ext cx="109728" cy="804672"/>
          </a:xfrm>
          <a:prstGeom prst="rect">
            <a:avLst/>
          </a:prstGeom>
          <a:solidFill>
            <a:srgbClr val="C6852F"/>
          </a:solidFill>
          <a:ln w="12700">
            <a:solidFill>
              <a:srgbClr val="C68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911096"/>
            <a:ext cx="22860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BERTopic documentation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167128"/>
            <a:ext cx="3886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8717C"/>
                </a:solidFill>
              </a:rPr>
              <a:t>Uses transformer embeddings and c-TF-IDF for interpretable topic clusters.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92240" y="3108960"/>
            <a:ext cx="4434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108960"/>
            <a:ext cx="109728" cy="804672"/>
          </a:xfrm>
          <a:prstGeom prst="rect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236976"/>
            <a:ext cx="228600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36"/>
                </a:solidFill>
              </a:rPr>
              <a:t>Sentence Transformers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493008"/>
            <a:ext cx="3886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8717C"/>
                </a:solidFill>
              </a:rPr>
              <a:t>Provides semantic text embeddings suitable for similarity and clustering.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035040" y="1298448"/>
            <a:ext cx="0" cy="420624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46320"/>
            <a:ext cx="4434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5EAA"/>
                </a:solidFill>
              </a:rPr>
              <a:t>Conclusion from literature: use transformer-based sentiment + semantic topic modeling + temporal trend scoring for a stronger NLP project.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&amp; Expected Outcome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17C"/>
                </a:solidFill>
              </a:rPr>
              <a:t>How the project improves over simple trend dashboards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0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84A4A"/>
                </a:solidFill>
              </a:rPr>
              <a:t>Research gap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267712"/>
            <a:ext cx="118872" cy="118872"/>
          </a:xfrm>
          <a:prstGeom prst="ellipse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194560"/>
            <a:ext cx="4069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Many dashboards rank only by total frequency.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871216"/>
            <a:ext cx="118872" cy="118872"/>
          </a:xfrm>
          <a:prstGeom prst="ellipse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98064"/>
            <a:ext cx="4069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Short social posts are noisy and context-poor.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3474720"/>
            <a:ext cx="118872" cy="118872"/>
          </a:xfrm>
          <a:prstGeom prst="ellipse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401568"/>
            <a:ext cx="4069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Users need to know why a topic is trending.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078224"/>
            <a:ext cx="118872" cy="118872"/>
          </a:xfrm>
          <a:prstGeom prst="ellipse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4005072"/>
            <a:ext cx="4069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Live APIs can make academic demos unreliable.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FDFBF4"/>
          </a:solidFill>
          <a:ln w="12700">
            <a:solidFill>
              <a:srgbClr val="D7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F8A62"/>
                </a:solidFill>
              </a:rPr>
              <a:t>Expected outcome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93408" y="2267712"/>
            <a:ext cx="128016" cy="128016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Uploadable dataset + sample demo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93408" y="2871216"/>
            <a:ext cx="128016" cy="128016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NLP pipeline with sentiment, topics and entities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93408" y="3474720"/>
            <a:ext cx="128016" cy="128016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Explainable trend score with rising/stable/declining status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93408" y="4078224"/>
            <a:ext cx="128016" cy="128016"/>
          </a:xfrm>
          <a:prstGeom prst="rect">
            <a:avLst/>
          </a:prstGeom>
          <a:solidFill>
            <a:srgbClr val="4F8A62"/>
          </a:solidFill>
          <a:ln w="12700">
            <a:solidFill>
              <a:srgbClr val="4F8A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</a:rPr>
              <a:t>Professional dashboard for presentation and viva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" y="618134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EAA"/>
                </a:solidFill>
              </a:rPr>
              <a:t>Final message: This project is not just hashtag counting; it is explainable NLP-driven trend analysis.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64739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17C"/>
                </a:solidFill>
              </a:rPr>
              <a:t>Social Trend Analyzer •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NLP Mini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Trend Analyzer</dc:title>
  <dc:subject>Social Trend Analyzer NLP Project</dc:subject>
  <dc:creator>OpenAI</dc:creator>
  <cp:lastModifiedBy>OpenAI</cp:lastModifiedBy>
  <cp:revision>1</cp:revision>
  <dcterms:created xsi:type="dcterms:W3CDTF">2026-09-19T14:03:04Z</dcterms:created>
  <dcterms:modified xsi:type="dcterms:W3CDTF">2026-09-19T14:03:04Z</dcterms:modified>
</cp:coreProperties>
</file>